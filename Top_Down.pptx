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8" r:id="rId2"/>
    <p:sldId id="259" r:id="rId3"/>
    <p:sldId id="260" r:id="rId4"/>
    <p:sldId id="261" r:id="rId5"/>
    <p:sldId id="262"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451"/>
    <p:restoredTop sz="94714"/>
  </p:normalViewPr>
  <p:slideViewPr>
    <p:cSldViewPr snapToGrid="0">
      <p:cViewPr>
        <p:scale>
          <a:sx n="67" d="100"/>
          <a:sy n="67" d="100"/>
        </p:scale>
        <p:origin x="144" y="7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D6617C-CE7A-174A-A559-78D8B540582C}" type="datetimeFigureOut">
              <a:rPr lang="en-US" smtClean="0"/>
              <a:t>4/1/26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0A444C-7308-084C-A4DD-6D08359C8BE4}" type="slidenum">
              <a:rPr lang="en-US" smtClean="0"/>
              <a:t>‹#›</a:t>
            </a:fld>
            <a:endParaRPr lang="en-US"/>
          </a:p>
        </p:txBody>
      </p:sp>
    </p:spTree>
    <p:extLst>
      <p:ext uri="{BB962C8B-B14F-4D97-AF65-F5344CB8AC3E}">
        <p14:creationId xmlns:p14="http://schemas.microsoft.com/office/powerpoint/2010/main" val="2683165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 Microsoft 365 content library
Past defaults, such as bankruptcy, strongly indicate a higher risk of future loan default[cite: 415]. Debt-to-income ratio is the dominant risk factor for repayment[cite: 697]. Homeownership is a sign of financial stability, with homeowners defaulting less often than renters[cite: 9, 698]. Proactive loan intents—like ventures or education—are safer than reactive fixes[cite: 11, 699], while gender and education show little impact on repayment[cite: 7, 694].</a:t>
            </a:r>
          </a:p>
        </p:txBody>
      </p:sp>
      <p:sp>
        <p:nvSpPr>
          <p:cNvPr id="4" name="Slide Number Placeholder 3"/>
          <p:cNvSpPr>
            <a:spLocks noGrp="1"/>
          </p:cNvSpPr>
          <p:nvPr>
            <p:ph type="sldNum" sz="quarter" idx="5"/>
          </p:nvPr>
        </p:nvSpPr>
        <p:spPr/>
        <p:txBody>
          <a:bodyPr/>
          <a:lstStyle/>
          <a:p>
            <a:fld id="{580A444C-7308-084C-A4DD-6D08359C8BE4}" type="slidenum">
              <a:rPr lang="en-US" smtClean="0"/>
              <a:t>1</a:t>
            </a:fld>
            <a:endParaRPr lang="en-US"/>
          </a:p>
        </p:txBody>
      </p:sp>
    </p:spTree>
    <p:extLst>
      <p:ext uri="{BB962C8B-B14F-4D97-AF65-F5344CB8AC3E}">
        <p14:creationId xmlns:p14="http://schemas.microsoft.com/office/powerpoint/2010/main" val="31245291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Microsoft 365 content library
We developed a Generalised Linear Model (GLM) using the binomial family for predictive classification. The model achieved a high accuracy rate of 87.9% when tested on unseen data. Additionally, the F1 Score was approximately 71%, reflecting strong balance between precision and recall. Reliable predictions were made, correctly identifying 93% of non-defaulters.</a:t>
            </a:r>
          </a:p>
        </p:txBody>
      </p:sp>
      <p:sp>
        <p:nvSpPr>
          <p:cNvPr id="4" name="Slide Number Placeholder 3"/>
          <p:cNvSpPr>
            <a:spLocks noGrp="1"/>
          </p:cNvSpPr>
          <p:nvPr>
            <p:ph type="sldNum" sz="quarter" idx="5"/>
          </p:nvPr>
        </p:nvSpPr>
        <p:spPr/>
        <p:txBody>
          <a:bodyPr/>
          <a:lstStyle/>
          <a:p>
            <a:fld id="{580A444C-7308-084C-A4DD-6D08359C8BE4}" type="slidenum">
              <a:rPr lang="en-US" smtClean="0"/>
              <a:t>2</a:t>
            </a:fld>
            <a:endParaRPr lang="en-US"/>
          </a:p>
        </p:txBody>
      </p:sp>
    </p:spTree>
    <p:extLst>
      <p:ext uri="{BB962C8B-B14F-4D97-AF65-F5344CB8AC3E}">
        <p14:creationId xmlns:p14="http://schemas.microsoft.com/office/powerpoint/2010/main" val="11322425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Microsoft 365 content library
We normalised data using log and square root transformations to address skewness in income and risk factors. PCA merged age and credit history, capturing 92% of data variability. DHARMa residual plots validated the model's unbiased nature and mathematical soundness. Independence checks confirmed categories like home ownership and loan intent were not over-correlated.</a:t>
            </a:r>
          </a:p>
        </p:txBody>
      </p:sp>
      <p:sp>
        <p:nvSpPr>
          <p:cNvPr id="4" name="Slide Number Placeholder 3"/>
          <p:cNvSpPr>
            <a:spLocks noGrp="1"/>
          </p:cNvSpPr>
          <p:nvPr>
            <p:ph type="sldNum" sz="quarter" idx="5"/>
          </p:nvPr>
        </p:nvSpPr>
        <p:spPr/>
        <p:txBody>
          <a:bodyPr/>
          <a:lstStyle/>
          <a:p>
            <a:fld id="{580A444C-7308-084C-A4DD-6D08359C8BE4}" type="slidenum">
              <a:rPr lang="en-US" smtClean="0"/>
              <a:t>3</a:t>
            </a:fld>
            <a:endParaRPr lang="en-US"/>
          </a:p>
        </p:txBody>
      </p:sp>
    </p:spTree>
    <p:extLst>
      <p:ext uri="{BB962C8B-B14F-4D97-AF65-F5344CB8AC3E}">
        <p14:creationId xmlns:p14="http://schemas.microsoft.com/office/powerpoint/2010/main" val="3760006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Microsoft 365 content library
Static data from Kaggle restricts insights compared to real-time banking feeds. Mathematical models cannot capture a borrower's true intent or psychological character. Data was cleaned by removing extreme anomalies, such as unusually old borrowers or extremely high incomes. Heavy reliance on historical defaults may unfairly penalise borrowers who have now improved their financial stability.</a:t>
            </a:r>
          </a:p>
        </p:txBody>
      </p:sp>
      <p:sp>
        <p:nvSpPr>
          <p:cNvPr id="4" name="Slide Number Placeholder 3"/>
          <p:cNvSpPr>
            <a:spLocks noGrp="1"/>
          </p:cNvSpPr>
          <p:nvPr>
            <p:ph type="sldNum" sz="quarter" idx="5"/>
          </p:nvPr>
        </p:nvSpPr>
        <p:spPr/>
        <p:txBody>
          <a:bodyPr/>
          <a:lstStyle/>
          <a:p>
            <a:fld id="{580A444C-7308-084C-A4DD-6D08359C8BE4}" type="slidenum">
              <a:rPr lang="en-US" smtClean="0"/>
              <a:t>4</a:t>
            </a:fld>
            <a:endParaRPr lang="en-US"/>
          </a:p>
        </p:txBody>
      </p:sp>
    </p:spTree>
    <p:extLst>
      <p:ext uri="{BB962C8B-B14F-4D97-AF65-F5344CB8AC3E}">
        <p14:creationId xmlns:p14="http://schemas.microsoft.com/office/powerpoint/2010/main" val="32364527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Microsoft 365 content library
Risk markers such as bankruptcy history and debt-to-income ratios proved crucial in predicting financial failure. The GLM model enhanced raw data into an accurate predictive tool, achieving 87.9% accuracy and a 71% F1 score. Rigorous methods like PCA and data transformations minimised bias, though filtered data limitations must be considered.</a:t>
            </a:r>
          </a:p>
        </p:txBody>
      </p:sp>
      <p:sp>
        <p:nvSpPr>
          <p:cNvPr id="4" name="Slide Number Placeholder 3"/>
          <p:cNvSpPr>
            <a:spLocks noGrp="1"/>
          </p:cNvSpPr>
          <p:nvPr>
            <p:ph type="sldNum" sz="quarter" idx="5"/>
          </p:nvPr>
        </p:nvSpPr>
        <p:spPr/>
        <p:txBody>
          <a:bodyPr/>
          <a:lstStyle/>
          <a:p>
            <a:fld id="{580A444C-7308-084C-A4DD-6D08359C8BE4}" type="slidenum">
              <a:rPr lang="en-US" smtClean="0"/>
              <a:t>5</a:t>
            </a:fld>
            <a:endParaRPr lang="en-US"/>
          </a:p>
        </p:txBody>
      </p:sp>
    </p:spTree>
    <p:extLst>
      <p:ext uri="{BB962C8B-B14F-4D97-AF65-F5344CB8AC3E}">
        <p14:creationId xmlns:p14="http://schemas.microsoft.com/office/powerpoint/2010/main" val="2144698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86019-8588-7218-26FF-E8346863982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3956CCC8-82BC-564D-3077-0428590E07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2D12F999-B49C-26EB-8E0D-0650B7186010}"/>
              </a:ext>
            </a:extLst>
          </p:cNvPr>
          <p:cNvSpPr>
            <a:spLocks noGrp="1"/>
          </p:cNvSpPr>
          <p:nvPr>
            <p:ph type="dt" sz="half" idx="10"/>
          </p:nvPr>
        </p:nvSpPr>
        <p:spPr/>
        <p:txBody>
          <a:bodyPr/>
          <a:lstStyle/>
          <a:p>
            <a:fld id="{18E791AC-BC75-2840-80F2-E6039C6F7B4B}" type="datetimeFigureOut">
              <a:rPr lang="en-US" smtClean="0"/>
              <a:t>4/1/26</a:t>
            </a:fld>
            <a:endParaRPr lang="en-US"/>
          </a:p>
        </p:txBody>
      </p:sp>
      <p:sp>
        <p:nvSpPr>
          <p:cNvPr id="5" name="Footer Placeholder 4">
            <a:extLst>
              <a:ext uri="{FF2B5EF4-FFF2-40B4-BE49-F238E27FC236}">
                <a16:creationId xmlns:a16="http://schemas.microsoft.com/office/drawing/2014/main" id="{C2445F9C-4DF1-95C9-D0F3-C7B94EF16D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ABCAF2-1ACF-E2A0-F757-3477717E1A5D}"/>
              </a:ext>
            </a:extLst>
          </p:cNvPr>
          <p:cNvSpPr>
            <a:spLocks noGrp="1"/>
          </p:cNvSpPr>
          <p:nvPr>
            <p:ph type="sldNum" sz="quarter" idx="12"/>
          </p:nvPr>
        </p:nvSpPr>
        <p:spPr/>
        <p:txBody>
          <a:bodyPr/>
          <a:lstStyle/>
          <a:p>
            <a:fld id="{CDBF02F5-C14E-BE41-83BF-931D3198DF4A}" type="slidenum">
              <a:rPr lang="en-US" smtClean="0"/>
              <a:t>‹#›</a:t>
            </a:fld>
            <a:endParaRPr lang="en-US"/>
          </a:p>
        </p:txBody>
      </p:sp>
    </p:spTree>
    <p:extLst>
      <p:ext uri="{BB962C8B-B14F-4D97-AF65-F5344CB8AC3E}">
        <p14:creationId xmlns:p14="http://schemas.microsoft.com/office/powerpoint/2010/main" val="5302211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3062C-68EA-583F-F140-C8CBEAD182E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66A491F-0A8D-D6AA-199F-09457507F35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24CF7D7-EFC2-1BE4-1329-BFA372A181A4}"/>
              </a:ext>
            </a:extLst>
          </p:cNvPr>
          <p:cNvSpPr>
            <a:spLocks noGrp="1"/>
          </p:cNvSpPr>
          <p:nvPr>
            <p:ph type="dt" sz="half" idx="10"/>
          </p:nvPr>
        </p:nvSpPr>
        <p:spPr/>
        <p:txBody>
          <a:bodyPr/>
          <a:lstStyle/>
          <a:p>
            <a:fld id="{18E791AC-BC75-2840-80F2-E6039C6F7B4B}" type="datetimeFigureOut">
              <a:rPr lang="en-US" smtClean="0"/>
              <a:t>4/1/26</a:t>
            </a:fld>
            <a:endParaRPr lang="en-US"/>
          </a:p>
        </p:txBody>
      </p:sp>
      <p:sp>
        <p:nvSpPr>
          <p:cNvPr id="5" name="Footer Placeholder 4">
            <a:extLst>
              <a:ext uri="{FF2B5EF4-FFF2-40B4-BE49-F238E27FC236}">
                <a16:creationId xmlns:a16="http://schemas.microsoft.com/office/drawing/2014/main" id="{5656171B-6EB3-855F-8E6B-A8C8F77066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3F8EF2-7F06-56BB-55C4-168ECDC3425B}"/>
              </a:ext>
            </a:extLst>
          </p:cNvPr>
          <p:cNvSpPr>
            <a:spLocks noGrp="1"/>
          </p:cNvSpPr>
          <p:nvPr>
            <p:ph type="sldNum" sz="quarter" idx="12"/>
          </p:nvPr>
        </p:nvSpPr>
        <p:spPr/>
        <p:txBody>
          <a:bodyPr/>
          <a:lstStyle/>
          <a:p>
            <a:fld id="{CDBF02F5-C14E-BE41-83BF-931D3198DF4A}" type="slidenum">
              <a:rPr lang="en-US" smtClean="0"/>
              <a:t>‹#›</a:t>
            </a:fld>
            <a:endParaRPr lang="en-US"/>
          </a:p>
        </p:txBody>
      </p:sp>
    </p:spTree>
    <p:extLst>
      <p:ext uri="{BB962C8B-B14F-4D97-AF65-F5344CB8AC3E}">
        <p14:creationId xmlns:p14="http://schemas.microsoft.com/office/powerpoint/2010/main" val="1519182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F2816-D8CF-749E-A613-7F035A4F81A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3BC1D7E-0899-B95E-6137-8F7F231CE63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2262469-9B1E-E67A-DA6D-55441E2093BE}"/>
              </a:ext>
            </a:extLst>
          </p:cNvPr>
          <p:cNvSpPr>
            <a:spLocks noGrp="1"/>
          </p:cNvSpPr>
          <p:nvPr>
            <p:ph type="dt" sz="half" idx="10"/>
          </p:nvPr>
        </p:nvSpPr>
        <p:spPr/>
        <p:txBody>
          <a:bodyPr/>
          <a:lstStyle/>
          <a:p>
            <a:fld id="{18E791AC-BC75-2840-80F2-E6039C6F7B4B}" type="datetimeFigureOut">
              <a:rPr lang="en-US" smtClean="0"/>
              <a:t>4/1/26</a:t>
            </a:fld>
            <a:endParaRPr lang="en-US"/>
          </a:p>
        </p:txBody>
      </p:sp>
      <p:sp>
        <p:nvSpPr>
          <p:cNvPr id="5" name="Footer Placeholder 4">
            <a:extLst>
              <a:ext uri="{FF2B5EF4-FFF2-40B4-BE49-F238E27FC236}">
                <a16:creationId xmlns:a16="http://schemas.microsoft.com/office/drawing/2014/main" id="{3A6EAAA0-37F0-58B4-1BA0-2A54A18610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3CB8AB-B486-2822-5B1B-8D1F0FC30A19}"/>
              </a:ext>
            </a:extLst>
          </p:cNvPr>
          <p:cNvSpPr>
            <a:spLocks noGrp="1"/>
          </p:cNvSpPr>
          <p:nvPr>
            <p:ph type="sldNum" sz="quarter" idx="12"/>
          </p:nvPr>
        </p:nvSpPr>
        <p:spPr/>
        <p:txBody>
          <a:bodyPr/>
          <a:lstStyle/>
          <a:p>
            <a:fld id="{CDBF02F5-C14E-BE41-83BF-931D3198DF4A}" type="slidenum">
              <a:rPr lang="en-US" smtClean="0"/>
              <a:t>‹#›</a:t>
            </a:fld>
            <a:endParaRPr lang="en-US"/>
          </a:p>
        </p:txBody>
      </p:sp>
    </p:spTree>
    <p:extLst>
      <p:ext uri="{BB962C8B-B14F-4D97-AF65-F5344CB8AC3E}">
        <p14:creationId xmlns:p14="http://schemas.microsoft.com/office/powerpoint/2010/main" val="4258407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F4AA8-DD4F-46ED-2221-E0CA7E67318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AA3B980-C9A3-3E4D-2C64-87A57A19A7C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91B349EF-9602-EC6B-EDF6-96E6E37221A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A060F10-1E79-AD14-D6D6-5C0C6003A36F}"/>
              </a:ext>
            </a:extLst>
          </p:cNvPr>
          <p:cNvSpPr>
            <a:spLocks noGrp="1"/>
          </p:cNvSpPr>
          <p:nvPr>
            <p:ph type="dt" sz="half" idx="10"/>
          </p:nvPr>
        </p:nvSpPr>
        <p:spPr/>
        <p:txBody>
          <a:bodyPr/>
          <a:lstStyle/>
          <a:p>
            <a:fld id="{18E791AC-BC75-2840-80F2-E6039C6F7B4B}" type="datetimeFigureOut">
              <a:rPr lang="en-US" smtClean="0"/>
              <a:t>4/1/26</a:t>
            </a:fld>
            <a:endParaRPr lang="en-US"/>
          </a:p>
        </p:txBody>
      </p:sp>
      <p:sp>
        <p:nvSpPr>
          <p:cNvPr id="6" name="Footer Placeholder 5">
            <a:extLst>
              <a:ext uri="{FF2B5EF4-FFF2-40B4-BE49-F238E27FC236}">
                <a16:creationId xmlns:a16="http://schemas.microsoft.com/office/drawing/2014/main" id="{66AECA2C-AF66-CA7D-4709-7CFBE7360B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67DD50-6D95-163C-C799-43CC68186B28}"/>
              </a:ext>
            </a:extLst>
          </p:cNvPr>
          <p:cNvSpPr>
            <a:spLocks noGrp="1"/>
          </p:cNvSpPr>
          <p:nvPr>
            <p:ph type="sldNum" sz="quarter" idx="12"/>
          </p:nvPr>
        </p:nvSpPr>
        <p:spPr/>
        <p:txBody>
          <a:bodyPr/>
          <a:lstStyle/>
          <a:p>
            <a:fld id="{CDBF02F5-C14E-BE41-83BF-931D3198DF4A}" type="slidenum">
              <a:rPr lang="en-US" smtClean="0"/>
              <a:t>‹#›</a:t>
            </a:fld>
            <a:endParaRPr lang="en-US"/>
          </a:p>
        </p:txBody>
      </p:sp>
    </p:spTree>
    <p:extLst>
      <p:ext uri="{BB962C8B-B14F-4D97-AF65-F5344CB8AC3E}">
        <p14:creationId xmlns:p14="http://schemas.microsoft.com/office/powerpoint/2010/main" val="409469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72064-EB05-75F7-0168-91D7B024DC34}"/>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7F96AA4-3FDD-DC5B-7235-69019834A6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9E59C99-7A42-CE4A-9CCE-5A4A1F264A3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29B17021-1BD3-758C-F157-D27E62B132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ADDFCDB-38BC-D13A-1D7A-8B021A18E29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3C9FAC7-5757-6CE7-C492-E7537C2262ED}"/>
              </a:ext>
            </a:extLst>
          </p:cNvPr>
          <p:cNvSpPr>
            <a:spLocks noGrp="1"/>
          </p:cNvSpPr>
          <p:nvPr>
            <p:ph type="dt" sz="half" idx="10"/>
          </p:nvPr>
        </p:nvSpPr>
        <p:spPr/>
        <p:txBody>
          <a:bodyPr/>
          <a:lstStyle/>
          <a:p>
            <a:fld id="{18E791AC-BC75-2840-80F2-E6039C6F7B4B}" type="datetimeFigureOut">
              <a:rPr lang="en-US" smtClean="0"/>
              <a:t>4/1/26</a:t>
            </a:fld>
            <a:endParaRPr lang="en-US"/>
          </a:p>
        </p:txBody>
      </p:sp>
      <p:sp>
        <p:nvSpPr>
          <p:cNvPr id="8" name="Footer Placeholder 7">
            <a:extLst>
              <a:ext uri="{FF2B5EF4-FFF2-40B4-BE49-F238E27FC236}">
                <a16:creationId xmlns:a16="http://schemas.microsoft.com/office/drawing/2014/main" id="{078FB356-3140-870F-0D69-787D93F506E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4C53466-8978-7398-789D-613B64537B1C}"/>
              </a:ext>
            </a:extLst>
          </p:cNvPr>
          <p:cNvSpPr>
            <a:spLocks noGrp="1"/>
          </p:cNvSpPr>
          <p:nvPr>
            <p:ph type="sldNum" sz="quarter" idx="12"/>
          </p:nvPr>
        </p:nvSpPr>
        <p:spPr/>
        <p:txBody>
          <a:bodyPr/>
          <a:lstStyle/>
          <a:p>
            <a:fld id="{CDBF02F5-C14E-BE41-83BF-931D3198DF4A}" type="slidenum">
              <a:rPr lang="en-US" smtClean="0"/>
              <a:t>‹#›</a:t>
            </a:fld>
            <a:endParaRPr lang="en-US"/>
          </a:p>
        </p:txBody>
      </p:sp>
    </p:spTree>
    <p:extLst>
      <p:ext uri="{BB962C8B-B14F-4D97-AF65-F5344CB8AC3E}">
        <p14:creationId xmlns:p14="http://schemas.microsoft.com/office/powerpoint/2010/main" val="2057335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9E5D4-C86A-CD80-9879-951CD8505C7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3BA08375-8FC4-29D6-01BE-0B18E84ADD6C}"/>
              </a:ext>
            </a:extLst>
          </p:cNvPr>
          <p:cNvSpPr>
            <a:spLocks noGrp="1"/>
          </p:cNvSpPr>
          <p:nvPr>
            <p:ph type="dt" sz="half" idx="10"/>
          </p:nvPr>
        </p:nvSpPr>
        <p:spPr/>
        <p:txBody>
          <a:bodyPr/>
          <a:lstStyle/>
          <a:p>
            <a:fld id="{18E791AC-BC75-2840-80F2-E6039C6F7B4B}" type="datetimeFigureOut">
              <a:rPr lang="en-US" smtClean="0"/>
              <a:t>4/1/26</a:t>
            </a:fld>
            <a:endParaRPr lang="en-US"/>
          </a:p>
        </p:txBody>
      </p:sp>
      <p:sp>
        <p:nvSpPr>
          <p:cNvPr id="4" name="Footer Placeholder 3">
            <a:extLst>
              <a:ext uri="{FF2B5EF4-FFF2-40B4-BE49-F238E27FC236}">
                <a16:creationId xmlns:a16="http://schemas.microsoft.com/office/drawing/2014/main" id="{07BCB096-34DD-8C31-B456-FFAAAC32986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985162-7556-999F-BFF6-B8A06F260CA3}"/>
              </a:ext>
            </a:extLst>
          </p:cNvPr>
          <p:cNvSpPr>
            <a:spLocks noGrp="1"/>
          </p:cNvSpPr>
          <p:nvPr>
            <p:ph type="sldNum" sz="quarter" idx="12"/>
          </p:nvPr>
        </p:nvSpPr>
        <p:spPr/>
        <p:txBody>
          <a:bodyPr/>
          <a:lstStyle/>
          <a:p>
            <a:fld id="{CDBF02F5-C14E-BE41-83BF-931D3198DF4A}" type="slidenum">
              <a:rPr lang="en-US" smtClean="0"/>
              <a:t>‹#›</a:t>
            </a:fld>
            <a:endParaRPr lang="en-US"/>
          </a:p>
        </p:txBody>
      </p:sp>
    </p:spTree>
    <p:extLst>
      <p:ext uri="{BB962C8B-B14F-4D97-AF65-F5344CB8AC3E}">
        <p14:creationId xmlns:p14="http://schemas.microsoft.com/office/powerpoint/2010/main" val="583004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0C2CE0-5115-AF12-0C05-EDCA9E9FC00F}"/>
              </a:ext>
            </a:extLst>
          </p:cNvPr>
          <p:cNvSpPr>
            <a:spLocks noGrp="1"/>
          </p:cNvSpPr>
          <p:nvPr>
            <p:ph type="dt" sz="half" idx="10"/>
          </p:nvPr>
        </p:nvSpPr>
        <p:spPr/>
        <p:txBody>
          <a:bodyPr/>
          <a:lstStyle/>
          <a:p>
            <a:fld id="{18E791AC-BC75-2840-80F2-E6039C6F7B4B}" type="datetimeFigureOut">
              <a:rPr lang="en-US" smtClean="0"/>
              <a:t>4/1/26</a:t>
            </a:fld>
            <a:endParaRPr lang="en-US"/>
          </a:p>
        </p:txBody>
      </p:sp>
      <p:sp>
        <p:nvSpPr>
          <p:cNvPr id="3" name="Footer Placeholder 2">
            <a:extLst>
              <a:ext uri="{FF2B5EF4-FFF2-40B4-BE49-F238E27FC236}">
                <a16:creationId xmlns:a16="http://schemas.microsoft.com/office/drawing/2014/main" id="{1F722FB9-940F-F119-5AA0-06F3921F72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16BF9CB-5722-BA64-FA34-E3702CB35C4F}"/>
              </a:ext>
            </a:extLst>
          </p:cNvPr>
          <p:cNvSpPr>
            <a:spLocks noGrp="1"/>
          </p:cNvSpPr>
          <p:nvPr>
            <p:ph type="sldNum" sz="quarter" idx="12"/>
          </p:nvPr>
        </p:nvSpPr>
        <p:spPr/>
        <p:txBody>
          <a:bodyPr/>
          <a:lstStyle/>
          <a:p>
            <a:fld id="{CDBF02F5-C14E-BE41-83BF-931D3198DF4A}" type="slidenum">
              <a:rPr lang="en-US" smtClean="0"/>
              <a:t>‹#›</a:t>
            </a:fld>
            <a:endParaRPr lang="en-US"/>
          </a:p>
        </p:txBody>
      </p:sp>
    </p:spTree>
    <p:extLst>
      <p:ext uri="{BB962C8B-B14F-4D97-AF65-F5344CB8AC3E}">
        <p14:creationId xmlns:p14="http://schemas.microsoft.com/office/powerpoint/2010/main" val="2387362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193A5-6077-1DBC-C644-2A4C0FF4EFB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23C988C-467E-BFEE-697F-8B6BB71AEA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C34F5F56-F3FB-1C8B-3B2A-756DC92135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5F85C18-8027-EECE-DB4E-6A2B88A9D1FB}"/>
              </a:ext>
            </a:extLst>
          </p:cNvPr>
          <p:cNvSpPr>
            <a:spLocks noGrp="1"/>
          </p:cNvSpPr>
          <p:nvPr>
            <p:ph type="dt" sz="half" idx="10"/>
          </p:nvPr>
        </p:nvSpPr>
        <p:spPr/>
        <p:txBody>
          <a:bodyPr/>
          <a:lstStyle/>
          <a:p>
            <a:fld id="{18E791AC-BC75-2840-80F2-E6039C6F7B4B}" type="datetimeFigureOut">
              <a:rPr lang="en-US" smtClean="0"/>
              <a:t>4/1/26</a:t>
            </a:fld>
            <a:endParaRPr lang="en-US"/>
          </a:p>
        </p:txBody>
      </p:sp>
      <p:sp>
        <p:nvSpPr>
          <p:cNvPr id="6" name="Footer Placeholder 5">
            <a:extLst>
              <a:ext uri="{FF2B5EF4-FFF2-40B4-BE49-F238E27FC236}">
                <a16:creationId xmlns:a16="http://schemas.microsoft.com/office/drawing/2014/main" id="{A018B9F4-E677-F42C-E7E4-A3BD4CF41E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4BFAFE-B14D-EB63-762C-C7378E0F739A}"/>
              </a:ext>
            </a:extLst>
          </p:cNvPr>
          <p:cNvSpPr>
            <a:spLocks noGrp="1"/>
          </p:cNvSpPr>
          <p:nvPr>
            <p:ph type="sldNum" sz="quarter" idx="12"/>
          </p:nvPr>
        </p:nvSpPr>
        <p:spPr/>
        <p:txBody>
          <a:bodyPr/>
          <a:lstStyle/>
          <a:p>
            <a:fld id="{CDBF02F5-C14E-BE41-83BF-931D3198DF4A}" type="slidenum">
              <a:rPr lang="en-US" smtClean="0"/>
              <a:t>‹#›</a:t>
            </a:fld>
            <a:endParaRPr lang="en-US"/>
          </a:p>
        </p:txBody>
      </p:sp>
    </p:spTree>
    <p:extLst>
      <p:ext uri="{BB962C8B-B14F-4D97-AF65-F5344CB8AC3E}">
        <p14:creationId xmlns:p14="http://schemas.microsoft.com/office/powerpoint/2010/main" val="677036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68C4F-948B-7A6E-5D2D-24D00E4156C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5DA773D0-17F2-CD31-AEC9-4F81CEE973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5115EAB-0654-B2D7-293B-B103C66C14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B0D1F6F-52E2-B604-5E5C-1AEFBCD145E5}"/>
              </a:ext>
            </a:extLst>
          </p:cNvPr>
          <p:cNvSpPr>
            <a:spLocks noGrp="1"/>
          </p:cNvSpPr>
          <p:nvPr>
            <p:ph type="dt" sz="half" idx="10"/>
          </p:nvPr>
        </p:nvSpPr>
        <p:spPr/>
        <p:txBody>
          <a:bodyPr/>
          <a:lstStyle/>
          <a:p>
            <a:fld id="{18E791AC-BC75-2840-80F2-E6039C6F7B4B}" type="datetimeFigureOut">
              <a:rPr lang="en-US" smtClean="0"/>
              <a:t>4/1/26</a:t>
            </a:fld>
            <a:endParaRPr lang="en-US"/>
          </a:p>
        </p:txBody>
      </p:sp>
      <p:sp>
        <p:nvSpPr>
          <p:cNvPr id="6" name="Footer Placeholder 5">
            <a:extLst>
              <a:ext uri="{FF2B5EF4-FFF2-40B4-BE49-F238E27FC236}">
                <a16:creationId xmlns:a16="http://schemas.microsoft.com/office/drawing/2014/main" id="{BBDBE3BF-72CA-0F44-1F20-25C1E001D5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61FA5B-128D-671F-6C5F-124F1A36A6B4}"/>
              </a:ext>
            </a:extLst>
          </p:cNvPr>
          <p:cNvSpPr>
            <a:spLocks noGrp="1"/>
          </p:cNvSpPr>
          <p:nvPr>
            <p:ph type="sldNum" sz="quarter" idx="12"/>
          </p:nvPr>
        </p:nvSpPr>
        <p:spPr/>
        <p:txBody>
          <a:bodyPr/>
          <a:lstStyle/>
          <a:p>
            <a:fld id="{CDBF02F5-C14E-BE41-83BF-931D3198DF4A}" type="slidenum">
              <a:rPr lang="en-US" smtClean="0"/>
              <a:t>‹#›</a:t>
            </a:fld>
            <a:endParaRPr lang="en-US"/>
          </a:p>
        </p:txBody>
      </p:sp>
    </p:spTree>
    <p:extLst>
      <p:ext uri="{BB962C8B-B14F-4D97-AF65-F5344CB8AC3E}">
        <p14:creationId xmlns:p14="http://schemas.microsoft.com/office/powerpoint/2010/main" val="1539219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5986D-D2A3-505B-4C19-07ADCF62AD1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E06F96C-2BBC-260E-E34A-A2A128A9F20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75723DD-9ABF-74D4-E181-A9DF0397CA04}"/>
              </a:ext>
            </a:extLst>
          </p:cNvPr>
          <p:cNvSpPr>
            <a:spLocks noGrp="1"/>
          </p:cNvSpPr>
          <p:nvPr>
            <p:ph type="dt" sz="half" idx="10"/>
          </p:nvPr>
        </p:nvSpPr>
        <p:spPr/>
        <p:txBody>
          <a:bodyPr/>
          <a:lstStyle/>
          <a:p>
            <a:fld id="{18E791AC-BC75-2840-80F2-E6039C6F7B4B}" type="datetimeFigureOut">
              <a:rPr lang="en-US" smtClean="0"/>
              <a:t>4/1/26</a:t>
            </a:fld>
            <a:endParaRPr lang="en-US"/>
          </a:p>
        </p:txBody>
      </p:sp>
      <p:sp>
        <p:nvSpPr>
          <p:cNvPr id="5" name="Footer Placeholder 4">
            <a:extLst>
              <a:ext uri="{FF2B5EF4-FFF2-40B4-BE49-F238E27FC236}">
                <a16:creationId xmlns:a16="http://schemas.microsoft.com/office/drawing/2014/main" id="{A5800E64-1382-2692-F91A-39F06CA9DA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ADB443-3036-274B-498B-0CCFF864BB2E}"/>
              </a:ext>
            </a:extLst>
          </p:cNvPr>
          <p:cNvSpPr>
            <a:spLocks noGrp="1"/>
          </p:cNvSpPr>
          <p:nvPr>
            <p:ph type="sldNum" sz="quarter" idx="12"/>
          </p:nvPr>
        </p:nvSpPr>
        <p:spPr/>
        <p:txBody>
          <a:bodyPr/>
          <a:lstStyle/>
          <a:p>
            <a:fld id="{CDBF02F5-C14E-BE41-83BF-931D3198DF4A}" type="slidenum">
              <a:rPr lang="en-US" smtClean="0"/>
              <a:t>‹#›</a:t>
            </a:fld>
            <a:endParaRPr lang="en-US"/>
          </a:p>
        </p:txBody>
      </p:sp>
    </p:spTree>
    <p:extLst>
      <p:ext uri="{BB962C8B-B14F-4D97-AF65-F5344CB8AC3E}">
        <p14:creationId xmlns:p14="http://schemas.microsoft.com/office/powerpoint/2010/main" val="797961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F404BB-C0F9-D282-54D0-89FDB2299C1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0EE689C-72A9-4713-EB3F-AAB00638C00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FE930B6-B8F3-86DD-D3DE-BBC921A9F8DA}"/>
              </a:ext>
            </a:extLst>
          </p:cNvPr>
          <p:cNvSpPr>
            <a:spLocks noGrp="1"/>
          </p:cNvSpPr>
          <p:nvPr>
            <p:ph type="dt" sz="half" idx="10"/>
          </p:nvPr>
        </p:nvSpPr>
        <p:spPr/>
        <p:txBody>
          <a:bodyPr/>
          <a:lstStyle/>
          <a:p>
            <a:fld id="{18E791AC-BC75-2840-80F2-E6039C6F7B4B}" type="datetimeFigureOut">
              <a:rPr lang="en-US" smtClean="0"/>
              <a:t>4/1/26</a:t>
            </a:fld>
            <a:endParaRPr lang="en-US"/>
          </a:p>
        </p:txBody>
      </p:sp>
      <p:sp>
        <p:nvSpPr>
          <p:cNvPr id="5" name="Footer Placeholder 4">
            <a:extLst>
              <a:ext uri="{FF2B5EF4-FFF2-40B4-BE49-F238E27FC236}">
                <a16:creationId xmlns:a16="http://schemas.microsoft.com/office/drawing/2014/main" id="{58ED89A8-67D6-3B6A-EDDD-7B61D2918D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93F940-D3BF-47D8-0C57-30952A02D2AD}"/>
              </a:ext>
            </a:extLst>
          </p:cNvPr>
          <p:cNvSpPr>
            <a:spLocks noGrp="1"/>
          </p:cNvSpPr>
          <p:nvPr>
            <p:ph type="sldNum" sz="quarter" idx="12"/>
          </p:nvPr>
        </p:nvSpPr>
        <p:spPr/>
        <p:txBody>
          <a:bodyPr/>
          <a:lstStyle/>
          <a:p>
            <a:fld id="{CDBF02F5-C14E-BE41-83BF-931D3198DF4A}" type="slidenum">
              <a:rPr lang="en-US" smtClean="0"/>
              <a:t>‹#›</a:t>
            </a:fld>
            <a:endParaRPr lang="en-US"/>
          </a:p>
        </p:txBody>
      </p:sp>
    </p:spTree>
    <p:extLst>
      <p:ext uri="{BB962C8B-B14F-4D97-AF65-F5344CB8AC3E}">
        <p14:creationId xmlns:p14="http://schemas.microsoft.com/office/powerpoint/2010/main" val="4103641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C2EEAB-3520-F392-ECD0-E38896ED98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5E6A244-9031-58DC-695F-8AFC641154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B08728-B496-E810-E903-BDBCAD80BA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8E791AC-BC75-2840-80F2-E6039C6F7B4B}" type="datetimeFigureOut">
              <a:rPr lang="en-US" smtClean="0"/>
              <a:t>4/1/26</a:t>
            </a:fld>
            <a:endParaRPr lang="en-US"/>
          </a:p>
        </p:txBody>
      </p:sp>
      <p:sp>
        <p:nvSpPr>
          <p:cNvPr id="5" name="Footer Placeholder 4">
            <a:extLst>
              <a:ext uri="{FF2B5EF4-FFF2-40B4-BE49-F238E27FC236}">
                <a16:creationId xmlns:a16="http://schemas.microsoft.com/office/drawing/2014/main" id="{9BC1CDA0-2645-A988-45C8-B8005055D8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2D3FD5E-FD7C-CEC0-2C19-D2711FFBE2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DBF02F5-C14E-BE41-83BF-931D3198DF4A}" type="slidenum">
              <a:rPr lang="en-US" smtClean="0"/>
              <a:t>‹#›</a:t>
            </a:fld>
            <a:endParaRPr lang="en-US"/>
          </a:p>
        </p:txBody>
      </p:sp>
    </p:spTree>
    <p:extLst>
      <p:ext uri="{BB962C8B-B14F-4D97-AF65-F5344CB8AC3E}">
        <p14:creationId xmlns:p14="http://schemas.microsoft.com/office/powerpoint/2010/main" val="7301548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4F62B1-2967-4624-9DD0-CDB7F104BEC1}"/>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4600" b="1"/>
              <a:t>The "Big Hitters" – What Actually Predicts a Default?</a:t>
            </a:r>
          </a:p>
        </p:txBody>
      </p:sp>
      <p:sp>
        <p:nvSpPr>
          <p:cNvPr id="24"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383AF563-A857-37FA-8927-8D5AA43053B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2493" y="2071316"/>
            <a:ext cx="6713552" cy="4119172"/>
          </a:xfrm>
        </p:spPr>
        <p:txBody>
          <a:bodyPr>
            <a:normAutofit/>
          </a:bodyPr>
          <a:lstStyle/>
          <a:p>
            <a:pPr marL="0" indent="0">
              <a:spcBef>
                <a:spcPts val="2500"/>
              </a:spcBef>
              <a:buFont typeface="Arial" panose="020B0604020202020204" pitchFamily="34" charset="0"/>
              <a:buNone/>
            </a:pPr>
            <a:r>
              <a:rPr lang="en-AU" sz="1400" b="1" dirty="0"/>
              <a:t>Past Defaults Predict Risk</a:t>
            </a:r>
          </a:p>
          <a:p>
            <a:pPr marL="0" lvl="1" indent="0">
              <a:buFont typeface="Arial" panose="020B0604020202020204" pitchFamily="34" charset="0"/>
              <a:buNone/>
            </a:pPr>
            <a:r>
              <a:rPr lang="en-AU" sz="1400" dirty="0"/>
              <a:t>Previous defaults, such as bankruptcy, are strong indicators of a higher risk for future loan default.</a:t>
            </a:r>
          </a:p>
          <a:p>
            <a:pPr marL="0" indent="0">
              <a:spcBef>
                <a:spcPts val="2500"/>
              </a:spcBef>
              <a:buFont typeface="Arial" panose="020B0604020202020204" pitchFamily="34" charset="0"/>
              <a:buNone/>
            </a:pPr>
            <a:r>
              <a:rPr lang="en-AU" sz="1400" b="1" dirty="0"/>
              <a:t>Debt-to-Income Ratio</a:t>
            </a:r>
          </a:p>
          <a:p>
            <a:pPr marL="0" lvl="1" indent="0">
              <a:buFont typeface="Arial" panose="020B0604020202020204" pitchFamily="34" charset="0"/>
              <a:buNone/>
            </a:pPr>
            <a:r>
              <a:rPr lang="en-AU" sz="1400" dirty="0"/>
              <a:t>The debt-to-income ratio is the dominant factor influencing loan repayment risk and default likelihood.</a:t>
            </a:r>
          </a:p>
          <a:p>
            <a:pPr marL="0" indent="0">
              <a:spcBef>
                <a:spcPts val="2500"/>
              </a:spcBef>
              <a:buFont typeface="Arial" panose="020B0604020202020204" pitchFamily="34" charset="0"/>
              <a:buNone/>
            </a:pPr>
            <a:r>
              <a:rPr lang="en-AU" sz="1400" b="1" dirty="0"/>
              <a:t>Homeownership Indicates Stability</a:t>
            </a:r>
          </a:p>
          <a:p>
            <a:pPr marL="0" lvl="1" indent="0">
              <a:buFont typeface="Arial" panose="020B0604020202020204" pitchFamily="34" charset="0"/>
              <a:buNone/>
            </a:pPr>
            <a:r>
              <a:rPr lang="en-AU" sz="1400" dirty="0"/>
              <a:t>Homeowners tend to default less often on loans, showing greater financial stability compared to renters.</a:t>
            </a:r>
          </a:p>
          <a:p>
            <a:pPr marL="0" indent="0">
              <a:spcBef>
                <a:spcPts val="2500"/>
              </a:spcBef>
              <a:buFont typeface="Arial" panose="020B0604020202020204" pitchFamily="34" charset="0"/>
              <a:buNone/>
            </a:pPr>
            <a:r>
              <a:rPr lang="en-AU" sz="1400" b="1" dirty="0"/>
              <a:t>Proactive Loan Intent</a:t>
            </a:r>
          </a:p>
          <a:p>
            <a:pPr marL="0" lvl="1" indent="0">
              <a:buFont typeface="Arial" panose="020B0604020202020204" pitchFamily="34" charset="0"/>
              <a:buNone/>
            </a:pPr>
            <a:r>
              <a:rPr lang="en-AU" sz="1400" dirty="0"/>
              <a:t>Loans for ventures or education are safer than loans used as reactive financial fixes, showing lower default risk.</a:t>
            </a:r>
          </a:p>
        </p:txBody>
      </p:sp>
      <p:pic>
        <p:nvPicPr>
          <p:cNvPr id="5" name="Content Placeholder 4" descr="Color image depicting a real estate market and property concept. A wooden model house, a set of house keys, a calculator and pen sit on top of an array of mortgage documents with financial bar graphs and pie charts.">
            <a:extLst>
              <a:ext uri="{FF2B5EF4-FFF2-40B4-BE49-F238E27FC236}">
                <a16:creationId xmlns:a16="http://schemas.microsoft.com/office/drawing/2014/main" id="{3B8DB4B2-88E8-4904-A2D7-2AD188CE500E}"/>
              </a:ext>
            </a:extLst>
          </p:cNvPr>
          <p:cNvPicPr>
            <a:picLocks noGrp="1" noChangeAspect="1"/>
          </p:cNvPicPr>
          <p:nvPr>
            <p:ph sz="half" idx="1"/>
          </p:nvPr>
        </p:nvPicPr>
        <p:blipFill>
          <a:blip r:embed="rId3"/>
          <a:srcRect r="35784" b="2"/>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111754649"/>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73E4B8-694C-8664-7D59-92BBABF7413B}"/>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5400" b="1"/>
              <a:t>The Model Engine</a:t>
            </a:r>
          </a:p>
        </p:txBody>
      </p:sp>
      <p:sp>
        <p:nvSpPr>
          <p:cNvPr id="1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DA2AC587-92CE-A7C6-ACFB-AF75081DF2A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2493" y="2071316"/>
            <a:ext cx="6713552" cy="4119172"/>
          </a:xfrm>
        </p:spPr>
        <p:txBody>
          <a:bodyPr>
            <a:normAutofit/>
          </a:bodyPr>
          <a:lstStyle/>
          <a:p>
            <a:pPr marL="0" indent="0">
              <a:spcBef>
                <a:spcPts val="2500"/>
              </a:spcBef>
              <a:buFont typeface="Arial" panose="020B0604020202020204" pitchFamily="34" charset="0"/>
              <a:buNone/>
            </a:pPr>
            <a:r>
              <a:rPr lang="en-AU" sz="1400" b="1"/>
              <a:t>Generalised Linear Model Usage</a:t>
            </a:r>
          </a:p>
          <a:p>
            <a:pPr marL="0" lvl="1" indent="0">
              <a:buFont typeface="Arial" panose="020B0604020202020204" pitchFamily="34" charset="0"/>
              <a:buNone/>
            </a:pPr>
            <a:r>
              <a:rPr lang="en-AU" sz="1400"/>
              <a:t>A Generalised Linear Model with a binomial family was developed for predictive classification, enhancing decision-making accuracy.</a:t>
            </a:r>
          </a:p>
          <a:p>
            <a:pPr marL="0" indent="0">
              <a:spcBef>
                <a:spcPts val="2500"/>
              </a:spcBef>
              <a:buFont typeface="Arial" panose="020B0604020202020204" pitchFamily="34" charset="0"/>
              <a:buNone/>
            </a:pPr>
            <a:r>
              <a:rPr lang="en-AU" sz="1400" b="1"/>
              <a:t>High Model Accuracy</a:t>
            </a:r>
          </a:p>
          <a:p>
            <a:pPr marL="0" lvl="1" indent="0">
              <a:buFont typeface="Arial" panose="020B0604020202020204" pitchFamily="34" charset="0"/>
              <a:buNone/>
            </a:pPr>
            <a:r>
              <a:rPr lang="en-AU" sz="1400"/>
              <a:t>The model achieved an impressive accuracy rate of 87.9% on unseen datasets, demonstrating robust performance.</a:t>
            </a:r>
          </a:p>
          <a:p>
            <a:pPr marL="0" indent="0">
              <a:spcBef>
                <a:spcPts val="2500"/>
              </a:spcBef>
              <a:buFont typeface="Arial" panose="020B0604020202020204" pitchFamily="34" charset="0"/>
              <a:buNone/>
            </a:pPr>
            <a:r>
              <a:rPr lang="en-AU" sz="1400" b="1"/>
              <a:t>Balanced F1 Score</a:t>
            </a:r>
          </a:p>
          <a:p>
            <a:pPr marL="0" lvl="1" indent="0">
              <a:buFont typeface="Arial" panose="020B0604020202020204" pitchFamily="34" charset="0"/>
              <a:buNone/>
            </a:pPr>
            <a:r>
              <a:rPr lang="en-AU" sz="1400"/>
              <a:t>The F1 Score of approximately 71% highlights a strong balance between precision and recall in predictions.</a:t>
            </a:r>
          </a:p>
          <a:p>
            <a:pPr marL="0" indent="0">
              <a:spcBef>
                <a:spcPts val="2500"/>
              </a:spcBef>
              <a:buFont typeface="Arial" panose="020B0604020202020204" pitchFamily="34" charset="0"/>
              <a:buNone/>
            </a:pPr>
            <a:r>
              <a:rPr lang="en-AU" sz="1400" b="1"/>
              <a:t>Effective Non-Defaulter Identification</a:t>
            </a:r>
          </a:p>
          <a:p>
            <a:pPr marL="0" lvl="1" indent="0">
              <a:buFont typeface="Arial" panose="020B0604020202020204" pitchFamily="34" charset="0"/>
              <a:buNone/>
            </a:pPr>
            <a:r>
              <a:rPr lang="en-AU" sz="1400"/>
              <a:t>The engine reliably identified 93% of non-defaulters, ensuring trustworthy prediction results for risk assessment.</a:t>
            </a:r>
          </a:p>
        </p:txBody>
      </p:sp>
      <p:pic>
        <p:nvPicPr>
          <p:cNvPr id="5" name="Content Placeholder 4" descr="Gears">
            <a:extLst>
              <a:ext uri="{FF2B5EF4-FFF2-40B4-BE49-F238E27FC236}">
                <a16:creationId xmlns:a16="http://schemas.microsoft.com/office/drawing/2014/main" id="{956C594E-4848-4CCA-ACFE-D4B514893699}"/>
              </a:ext>
            </a:extLst>
          </p:cNvPr>
          <p:cNvPicPr>
            <a:picLocks noGrp="1" noChangeAspect="1"/>
          </p:cNvPicPr>
          <p:nvPr>
            <p:ph sz="half" idx="1"/>
          </p:nvPr>
        </p:nvPicPr>
        <p:blipFill>
          <a:blip r:embed="rId3"/>
          <a:srcRect l="12600" r="23184" b="2"/>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273090420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53B475F8-50AE-46A0-9943-B2B63183D5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306A47-826B-43A7-D330-F60A367555A7}"/>
              </a:ext>
            </a:extLst>
          </p:cNvPr>
          <p:cNvSpPr>
            <a:spLocks noGrp="1"/>
          </p:cNvSpPr>
          <p:nvPr>
            <p:ph type="title"/>
          </p:nvPr>
        </p:nvSpPr>
        <p:spPr>
          <a:xfrm>
            <a:off x="612648" y="365125"/>
            <a:ext cx="6986015" cy="1776484"/>
          </a:xfrm>
        </p:spPr>
        <p:txBody>
          <a:bodyPr vert="horz" lIns="91440" tIns="45720" rIns="91440" bIns="45720" rtlCol="0" anchor="b">
            <a:normAutofit/>
          </a:bodyPr>
          <a:lstStyle/>
          <a:p>
            <a:r>
              <a:rPr lang="en-US" sz="5400" b="1"/>
              <a:t>Checking Technical Assumptions</a:t>
            </a:r>
          </a:p>
        </p:txBody>
      </p:sp>
      <p:pic>
        <p:nvPicPr>
          <p:cNvPr id="11" name="Picture 10">
            <a:extLst>
              <a:ext uri="{FF2B5EF4-FFF2-40B4-BE49-F238E27FC236}">
                <a16:creationId xmlns:a16="http://schemas.microsoft.com/office/drawing/2014/main" id="{125A6C8C-C9DB-DBDB-6153-84566B3AD294}"/>
              </a:ext>
            </a:extLst>
          </p:cNvPr>
          <p:cNvPicPr>
            <a:picLocks noChangeAspect="1"/>
          </p:cNvPicPr>
          <p:nvPr/>
        </p:nvPicPr>
        <p:blipFill>
          <a:blip r:embed="rId3"/>
          <a:stretch>
            <a:fillRect/>
          </a:stretch>
        </p:blipFill>
        <p:spPr>
          <a:xfrm>
            <a:off x="8433973" y="346544"/>
            <a:ext cx="3382142" cy="1927821"/>
          </a:xfrm>
          <a:prstGeom prst="rect">
            <a:avLst/>
          </a:prstGeom>
        </p:spPr>
      </p:pic>
      <p:sp>
        <p:nvSpPr>
          <p:cNvPr id="24" name="sketch line">
            <a:extLst>
              <a:ext uri="{FF2B5EF4-FFF2-40B4-BE49-F238E27FC236}">
                <a16:creationId xmlns:a16="http://schemas.microsoft.com/office/drawing/2014/main" id="{75F6FDB4-2351-48C2-A863-2364A02343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2315691"/>
            <a:ext cx="4343400" cy="18288"/>
          </a:xfrm>
          <a:custGeom>
            <a:avLst/>
            <a:gdLst>
              <a:gd name="csX0" fmla="*/ 0 w 4343400"/>
              <a:gd name="csY0" fmla="*/ 0 h 18288"/>
              <a:gd name="csX1" fmla="*/ 577052 w 4343400"/>
              <a:gd name="csY1" fmla="*/ 0 h 18288"/>
              <a:gd name="csX2" fmla="*/ 1067235 w 4343400"/>
              <a:gd name="csY2" fmla="*/ 0 h 18288"/>
              <a:gd name="csX3" fmla="*/ 1600853 w 4343400"/>
              <a:gd name="csY3" fmla="*/ 0 h 18288"/>
              <a:gd name="csX4" fmla="*/ 2264773 w 4343400"/>
              <a:gd name="csY4" fmla="*/ 0 h 18288"/>
              <a:gd name="csX5" fmla="*/ 2841825 w 4343400"/>
              <a:gd name="csY5" fmla="*/ 0 h 18288"/>
              <a:gd name="csX6" fmla="*/ 3375442 w 4343400"/>
              <a:gd name="csY6" fmla="*/ 0 h 18288"/>
              <a:gd name="csX7" fmla="*/ 4343400 w 4343400"/>
              <a:gd name="csY7" fmla="*/ 0 h 18288"/>
              <a:gd name="csX8" fmla="*/ 4343400 w 4343400"/>
              <a:gd name="csY8" fmla="*/ 18288 h 18288"/>
              <a:gd name="csX9" fmla="*/ 3722914 w 4343400"/>
              <a:gd name="csY9" fmla="*/ 18288 h 18288"/>
              <a:gd name="csX10" fmla="*/ 3189297 w 4343400"/>
              <a:gd name="csY10" fmla="*/ 18288 h 18288"/>
              <a:gd name="csX11" fmla="*/ 2481943 w 4343400"/>
              <a:gd name="csY11" fmla="*/ 18288 h 18288"/>
              <a:gd name="csX12" fmla="*/ 1904891 w 4343400"/>
              <a:gd name="csY12" fmla="*/ 18288 h 18288"/>
              <a:gd name="csX13" fmla="*/ 1414707 w 4343400"/>
              <a:gd name="csY13" fmla="*/ 18288 h 18288"/>
              <a:gd name="csX14" fmla="*/ 750788 w 4343400"/>
              <a:gd name="csY14" fmla="*/ 18288 h 18288"/>
              <a:gd name="csX15" fmla="*/ 0 w 4343400"/>
              <a:gd name="csY15" fmla="*/ 18288 h 18288"/>
              <a:gd name="csX16" fmla="*/ 0 w 43434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343400" h="18288" fill="none" extrusionOk="0">
                <a:moveTo>
                  <a:pt x="0" y="0"/>
                </a:moveTo>
                <a:cubicBezTo>
                  <a:pt x="233209" y="-19550"/>
                  <a:pt x="330816" y="19068"/>
                  <a:pt x="577052" y="0"/>
                </a:cubicBezTo>
                <a:cubicBezTo>
                  <a:pt x="823288" y="-19068"/>
                  <a:pt x="875077" y="10360"/>
                  <a:pt x="1067235" y="0"/>
                </a:cubicBezTo>
                <a:cubicBezTo>
                  <a:pt x="1259393" y="-10360"/>
                  <a:pt x="1410699" y="2939"/>
                  <a:pt x="1600853" y="0"/>
                </a:cubicBezTo>
                <a:cubicBezTo>
                  <a:pt x="1791007" y="-2939"/>
                  <a:pt x="2101644" y="-26225"/>
                  <a:pt x="2264773" y="0"/>
                </a:cubicBezTo>
                <a:cubicBezTo>
                  <a:pt x="2427902" y="26225"/>
                  <a:pt x="2690426" y="-27726"/>
                  <a:pt x="2841825" y="0"/>
                </a:cubicBezTo>
                <a:cubicBezTo>
                  <a:pt x="2993224" y="27726"/>
                  <a:pt x="3172320" y="-18569"/>
                  <a:pt x="3375442" y="0"/>
                </a:cubicBezTo>
                <a:cubicBezTo>
                  <a:pt x="3578564" y="18569"/>
                  <a:pt x="4003119" y="21909"/>
                  <a:pt x="4343400" y="0"/>
                </a:cubicBezTo>
                <a:cubicBezTo>
                  <a:pt x="4343798" y="7429"/>
                  <a:pt x="4343380" y="10822"/>
                  <a:pt x="4343400" y="18288"/>
                </a:cubicBezTo>
                <a:cubicBezTo>
                  <a:pt x="4109047" y="14709"/>
                  <a:pt x="3996986" y="7919"/>
                  <a:pt x="3722914" y="18288"/>
                </a:cubicBezTo>
                <a:cubicBezTo>
                  <a:pt x="3448842" y="28657"/>
                  <a:pt x="3340973" y="29252"/>
                  <a:pt x="3189297" y="18288"/>
                </a:cubicBezTo>
                <a:cubicBezTo>
                  <a:pt x="3037621" y="7324"/>
                  <a:pt x="2636891" y="-9539"/>
                  <a:pt x="2481943" y="18288"/>
                </a:cubicBezTo>
                <a:cubicBezTo>
                  <a:pt x="2326995" y="46115"/>
                  <a:pt x="2131632" y="740"/>
                  <a:pt x="1904891" y="18288"/>
                </a:cubicBezTo>
                <a:cubicBezTo>
                  <a:pt x="1678150" y="35836"/>
                  <a:pt x="1575362" y="-3381"/>
                  <a:pt x="1414707" y="18288"/>
                </a:cubicBezTo>
                <a:cubicBezTo>
                  <a:pt x="1254052" y="39957"/>
                  <a:pt x="1051093" y="-335"/>
                  <a:pt x="750788" y="18288"/>
                </a:cubicBezTo>
                <a:cubicBezTo>
                  <a:pt x="450483" y="36911"/>
                  <a:pt x="293781" y="22900"/>
                  <a:pt x="0" y="18288"/>
                </a:cubicBezTo>
                <a:cubicBezTo>
                  <a:pt x="-591" y="13205"/>
                  <a:pt x="-663" y="6329"/>
                  <a:pt x="0" y="0"/>
                </a:cubicBezTo>
                <a:close/>
              </a:path>
              <a:path w="4343400" h="18288" stroke="0" extrusionOk="0">
                <a:moveTo>
                  <a:pt x="0" y="0"/>
                </a:moveTo>
                <a:cubicBezTo>
                  <a:pt x="212719" y="-28531"/>
                  <a:pt x="340561" y="-1164"/>
                  <a:pt x="577052" y="0"/>
                </a:cubicBezTo>
                <a:cubicBezTo>
                  <a:pt x="813543" y="1164"/>
                  <a:pt x="866967" y="-9376"/>
                  <a:pt x="1067235" y="0"/>
                </a:cubicBezTo>
                <a:cubicBezTo>
                  <a:pt x="1267503" y="9376"/>
                  <a:pt x="1485778" y="-20470"/>
                  <a:pt x="1774589" y="0"/>
                </a:cubicBezTo>
                <a:cubicBezTo>
                  <a:pt x="2063400" y="20470"/>
                  <a:pt x="2090152" y="-14502"/>
                  <a:pt x="2351641" y="0"/>
                </a:cubicBezTo>
                <a:cubicBezTo>
                  <a:pt x="2613130" y="14502"/>
                  <a:pt x="2802864" y="19125"/>
                  <a:pt x="2928693" y="0"/>
                </a:cubicBezTo>
                <a:cubicBezTo>
                  <a:pt x="3054522" y="-19125"/>
                  <a:pt x="3482611" y="-2038"/>
                  <a:pt x="3636046" y="0"/>
                </a:cubicBezTo>
                <a:cubicBezTo>
                  <a:pt x="3789481" y="2038"/>
                  <a:pt x="4012363" y="973"/>
                  <a:pt x="4343400" y="0"/>
                </a:cubicBezTo>
                <a:cubicBezTo>
                  <a:pt x="4342514" y="5429"/>
                  <a:pt x="4344221" y="14046"/>
                  <a:pt x="4343400" y="18288"/>
                </a:cubicBezTo>
                <a:cubicBezTo>
                  <a:pt x="4078870" y="-6138"/>
                  <a:pt x="4015967" y="29658"/>
                  <a:pt x="3809782" y="18288"/>
                </a:cubicBezTo>
                <a:cubicBezTo>
                  <a:pt x="3603597" y="6918"/>
                  <a:pt x="3495552" y="24439"/>
                  <a:pt x="3189297" y="18288"/>
                </a:cubicBezTo>
                <a:cubicBezTo>
                  <a:pt x="2883042" y="12137"/>
                  <a:pt x="2850610" y="32583"/>
                  <a:pt x="2568811" y="18288"/>
                </a:cubicBezTo>
                <a:cubicBezTo>
                  <a:pt x="2287012" y="3993"/>
                  <a:pt x="2279820" y="23580"/>
                  <a:pt x="1991759" y="18288"/>
                </a:cubicBezTo>
                <a:cubicBezTo>
                  <a:pt x="1703698" y="12996"/>
                  <a:pt x="1616455" y="23157"/>
                  <a:pt x="1284405" y="18288"/>
                </a:cubicBezTo>
                <a:cubicBezTo>
                  <a:pt x="952355" y="13419"/>
                  <a:pt x="783530" y="16053"/>
                  <a:pt x="577052" y="18288"/>
                </a:cubicBezTo>
                <a:cubicBezTo>
                  <a:pt x="370574" y="20523"/>
                  <a:pt x="173929" y="5195"/>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F1D3D3F5-C66D-E0BE-7E61-58BB66555EA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8" y="2504819"/>
            <a:ext cx="6986016" cy="3672144"/>
          </a:xfrm>
        </p:spPr>
        <p:txBody>
          <a:bodyPr>
            <a:normAutofit/>
          </a:bodyPr>
          <a:lstStyle/>
          <a:p>
            <a:pPr marL="0" indent="0">
              <a:spcBef>
                <a:spcPts val="2500"/>
              </a:spcBef>
              <a:buFont typeface="Arial" panose="020B0604020202020204" pitchFamily="34" charset="0"/>
              <a:buNone/>
            </a:pPr>
            <a:r>
              <a:rPr lang="en-AU" sz="1400" b="1" dirty="0"/>
              <a:t>Data Normalisation Methods</a:t>
            </a:r>
          </a:p>
          <a:p>
            <a:pPr marL="0" lvl="1" indent="0">
              <a:buFont typeface="Arial" panose="020B0604020202020204" pitchFamily="34" charset="0"/>
              <a:buNone/>
            </a:pPr>
            <a:r>
              <a:rPr lang="en-AU" sz="1400" dirty="0"/>
              <a:t>Log and square root transformations were applied to handle skewness in income and risk factors, improving model reliability.</a:t>
            </a:r>
          </a:p>
          <a:p>
            <a:pPr marL="0" indent="0">
              <a:spcBef>
                <a:spcPts val="2500"/>
              </a:spcBef>
              <a:buFont typeface="Arial" panose="020B0604020202020204" pitchFamily="34" charset="0"/>
              <a:buNone/>
            </a:pPr>
            <a:r>
              <a:rPr lang="en-AU" sz="1400" b="1" dirty="0"/>
              <a:t>Principal Component Analysis</a:t>
            </a:r>
          </a:p>
          <a:p>
            <a:pPr marL="0" lvl="1" indent="0">
              <a:buFont typeface="Arial" panose="020B0604020202020204" pitchFamily="34" charset="0"/>
              <a:buNone/>
            </a:pPr>
            <a:r>
              <a:rPr lang="en-AU" sz="1400" dirty="0"/>
              <a:t>PCA combined age, credit history and employment history into principal components, capturing 92% of the data's variability efficiently.</a:t>
            </a:r>
          </a:p>
          <a:p>
            <a:pPr marL="0" indent="0">
              <a:spcBef>
                <a:spcPts val="2500"/>
              </a:spcBef>
              <a:buFont typeface="Arial" panose="020B0604020202020204" pitchFamily="34" charset="0"/>
              <a:buNone/>
            </a:pPr>
            <a:r>
              <a:rPr lang="en-AU" sz="1400" b="1" dirty="0"/>
              <a:t>Model Validation</a:t>
            </a:r>
          </a:p>
          <a:p>
            <a:pPr marL="0" lvl="1" indent="0">
              <a:buFont typeface="Arial" panose="020B0604020202020204" pitchFamily="34" charset="0"/>
              <a:buNone/>
            </a:pPr>
            <a:r>
              <a:rPr lang="en-AU" sz="1400" dirty="0" err="1"/>
              <a:t>DHARMa</a:t>
            </a:r>
            <a:r>
              <a:rPr lang="en-AU" sz="1400" dirty="0"/>
              <a:t> residual plots confirmed the model’s unbiased performance and sound mathematical foundation, supporting its integrity.</a:t>
            </a:r>
          </a:p>
          <a:p>
            <a:pPr marL="0" indent="0">
              <a:spcBef>
                <a:spcPts val="2500"/>
              </a:spcBef>
              <a:buFont typeface="Arial" panose="020B0604020202020204" pitchFamily="34" charset="0"/>
              <a:buNone/>
            </a:pPr>
            <a:r>
              <a:rPr lang="en-AU" sz="1400" b="1" dirty="0"/>
              <a:t>Category Independence Checks</a:t>
            </a:r>
          </a:p>
          <a:p>
            <a:pPr marL="0" lvl="1" indent="0">
              <a:buFont typeface="Arial" panose="020B0604020202020204" pitchFamily="34" charset="0"/>
              <a:buNone/>
            </a:pPr>
            <a:r>
              <a:rPr lang="en-AU" sz="1400" dirty="0"/>
              <a:t>Statistical tests verified that categories like home ownership and loan intent showed no excessive correlation.</a:t>
            </a:r>
          </a:p>
        </p:txBody>
      </p:sp>
      <p:pic>
        <p:nvPicPr>
          <p:cNvPr id="13" name="Picture 12">
            <a:extLst>
              <a:ext uri="{FF2B5EF4-FFF2-40B4-BE49-F238E27FC236}">
                <a16:creationId xmlns:a16="http://schemas.microsoft.com/office/drawing/2014/main" id="{F317AF27-5194-CE39-7099-29FAA6571E9D}"/>
              </a:ext>
            </a:extLst>
          </p:cNvPr>
          <p:cNvPicPr>
            <a:picLocks noChangeAspect="1"/>
          </p:cNvPicPr>
          <p:nvPr/>
        </p:nvPicPr>
        <p:blipFill>
          <a:blip r:embed="rId4"/>
          <a:stretch>
            <a:fillRect/>
          </a:stretch>
        </p:blipFill>
        <p:spPr>
          <a:xfrm>
            <a:off x="8027175" y="4164586"/>
            <a:ext cx="3624403" cy="2274313"/>
          </a:xfrm>
          <a:prstGeom prst="rect">
            <a:avLst/>
          </a:prstGeom>
        </p:spPr>
      </p:pic>
      <p:pic>
        <p:nvPicPr>
          <p:cNvPr id="8" name="Picture 7">
            <a:extLst>
              <a:ext uri="{FF2B5EF4-FFF2-40B4-BE49-F238E27FC236}">
                <a16:creationId xmlns:a16="http://schemas.microsoft.com/office/drawing/2014/main" id="{A0E83787-DFF2-26D4-D9EE-B61183B696AB}"/>
              </a:ext>
            </a:extLst>
          </p:cNvPr>
          <p:cNvPicPr>
            <a:picLocks noChangeAspect="1"/>
          </p:cNvPicPr>
          <p:nvPr/>
        </p:nvPicPr>
        <p:blipFill>
          <a:blip r:embed="rId5"/>
          <a:stretch>
            <a:fillRect/>
          </a:stretch>
        </p:blipFill>
        <p:spPr>
          <a:xfrm>
            <a:off x="8433973" y="2152210"/>
            <a:ext cx="3382142" cy="2012375"/>
          </a:xfrm>
          <a:prstGeom prst="rect">
            <a:avLst/>
          </a:prstGeom>
        </p:spPr>
      </p:pic>
    </p:spTree>
    <p:extLst>
      <p:ext uri="{BB962C8B-B14F-4D97-AF65-F5344CB8AC3E}">
        <p14:creationId xmlns:p14="http://schemas.microsoft.com/office/powerpoint/2010/main" val="280150918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1D1E37-742D-3A1A-4CBE-1FD19B8FD7AF}"/>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4600" b="1"/>
              <a:t>Real-World Context – Project Limitations</a:t>
            </a:r>
          </a:p>
        </p:txBody>
      </p:sp>
      <p:sp>
        <p:nvSpPr>
          <p:cNvPr id="1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549D4C3C-EB1A-BB41-F564-333C3396D9A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2493" y="2071316"/>
            <a:ext cx="6713552" cy="4119172"/>
          </a:xfrm>
        </p:spPr>
        <p:txBody>
          <a:bodyPr>
            <a:normAutofit/>
          </a:bodyPr>
          <a:lstStyle/>
          <a:p>
            <a:pPr marL="0" indent="0">
              <a:spcBef>
                <a:spcPts val="2500"/>
              </a:spcBef>
              <a:buFont typeface="Arial" panose="020B0604020202020204" pitchFamily="34" charset="0"/>
              <a:buNone/>
            </a:pPr>
            <a:r>
              <a:rPr lang="en-AU" sz="1400" b="1" dirty="0"/>
              <a:t>Limited Data Insights</a:t>
            </a:r>
          </a:p>
          <a:p>
            <a:pPr marL="0" lvl="1" indent="0">
              <a:buFont typeface="Arial" panose="020B0604020202020204" pitchFamily="34" charset="0"/>
              <a:buNone/>
            </a:pPr>
            <a:r>
              <a:rPr lang="en-AU" sz="1400" dirty="0"/>
              <a:t>Static data from Kaggle offers fewer insights than real-time banking feeds, restricting understanding of changing borrower behaviour.</a:t>
            </a:r>
          </a:p>
          <a:p>
            <a:pPr marL="0" indent="0">
              <a:spcBef>
                <a:spcPts val="2500"/>
              </a:spcBef>
              <a:buFont typeface="Arial" panose="020B0604020202020204" pitchFamily="34" charset="0"/>
              <a:buNone/>
            </a:pPr>
            <a:r>
              <a:rPr lang="en-AU" sz="1400" b="1" dirty="0"/>
              <a:t>Incomplete Borrower Profiles</a:t>
            </a:r>
          </a:p>
          <a:p>
            <a:pPr marL="0" lvl="1" indent="0">
              <a:buFont typeface="Arial" panose="020B0604020202020204" pitchFamily="34" charset="0"/>
              <a:buNone/>
            </a:pPr>
            <a:r>
              <a:rPr lang="en-AU" sz="1400" dirty="0"/>
              <a:t>Mathematical models cannot accurately capture psychological factors or a borrower's true intentions behind financial decisions.</a:t>
            </a:r>
          </a:p>
          <a:p>
            <a:pPr marL="0" indent="0">
              <a:spcBef>
                <a:spcPts val="2500"/>
              </a:spcBef>
              <a:buFont typeface="Arial" panose="020B0604020202020204" pitchFamily="34" charset="0"/>
              <a:buNone/>
            </a:pPr>
            <a:r>
              <a:rPr lang="en-AU" sz="1400" b="1" dirty="0"/>
              <a:t>Bias from Historical Data</a:t>
            </a:r>
          </a:p>
          <a:p>
            <a:pPr marL="0" lvl="1" indent="0">
              <a:buFont typeface="Arial" panose="020B0604020202020204" pitchFamily="34" charset="0"/>
              <a:buNone/>
            </a:pPr>
            <a:r>
              <a:rPr lang="en-AU" sz="1400" dirty="0"/>
              <a:t>Relying on historical defaults might penalise borrowers who have since improved their financial stability, causing fairness concerns.</a:t>
            </a:r>
          </a:p>
        </p:txBody>
      </p:sp>
      <p:pic>
        <p:nvPicPr>
          <p:cNvPr id="5" name="Content Placeholder 4" descr="3D illustration">
            <a:extLst>
              <a:ext uri="{FF2B5EF4-FFF2-40B4-BE49-F238E27FC236}">
                <a16:creationId xmlns:a16="http://schemas.microsoft.com/office/drawing/2014/main" id="{D20AEBB1-6FC1-4880-9E8E-C4586419746A}"/>
              </a:ext>
            </a:extLst>
          </p:cNvPr>
          <p:cNvPicPr>
            <a:picLocks noGrp="1" noChangeAspect="1"/>
          </p:cNvPicPr>
          <p:nvPr>
            <p:ph sz="half" idx="1"/>
          </p:nvPr>
        </p:nvPicPr>
        <p:blipFill>
          <a:blip r:embed="rId3"/>
          <a:srcRect r="3792" b="-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236803683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6" name="Arc 35">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91FE631-F790-CEC9-54D1-15077668E3A7}"/>
              </a:ext>
            </a:extLst>
          </p:cNvPr>
          <p:cNvSpPr>
            <a:spLocks noGrp="1"/>
          </p:cNvSpPr>
          <p:nvPr>
            <p:ph type="title"/>
          </p:nvPr>
        </p:nvSpPr>
        <p:spPr>
          <a:xfrm>
            <a:off x="5894962" y="479493"/>
            <a:ext cx="5458838" cy="1325563"/>
          </a:xfrm>
        </p:spPr>
        <p:txBody>
          <a:bodyPr vert="horz" lIns="91440" tIns="45720" rIns="91440" bIns="45720" rtlCol="0" anchor="ctr">
            <a:normAutofit/>
          </a:bodyPr>
          <a:lstStyle/>
          <a:p>
            <a:r>
              <a:rPr lang="en-US" b="1" kern="1200">
                <a:solidFill>
                  <a:schemeClr val="tx1"/>
                </a:solidFill>
                <a:latin typeface="+mj-lt"/>
                <a:ea typeface="+mj-ea"/>
                <a:cs typeface="+mj-cs"/>
              </a:rPr>
              <a:t>Presentation Overview</a:t>
            </a:r>
          </a:p>
        </p:txBody>
      </p:sp>
      <p:sp>
        <p:nvSpPr>
          <p:cNvPr id="37" name="Freeform: Shape 32">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3" name="Content Placeholder 12">
            <a:extLst>
              <a:ext uri="{FF2B5EF4-FFF2-40B4-BE49-F238E27FC236}">
                <a16:creationId xmlns:a16="http://schemas.microsoft.com/office/drawing/2014/main" id="{A9507D0A-23AD-F9D5-C42F-4DDD70D87BDC}"/>
              </a:ext>
            </a:extLst>
          </p:cNvPr>
          <p:cNvPicPr>
            <a:picLocks noGrp="1" noChangeAspect="1"/>
          </p:cNvPicPr>
          <p:nvPr>
            <p:ph sz="half" idx="1"/>
          </p:nvPr>
        </p:nvPicPr>
        <p:blipFill>
          <a:blip r:embed="rId3"/>
          <a:stretch>
            <a:fillRect/>
          </a:stretch>
        </p:blipFill>
        <p:spPr>
          <a:xfrm>
            <a:off x="703182" y="2048263"/>
            <a:ext cx="4777381" cy="2591729"/>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4" name="Content Placeholder 3">
            <a:extLst>
              <a:ext uri="{FF2B5EF4-FFF2-40B4-BE49-F238E27FC236}">
                <a16:creationId xmlns:a16="http://schemas.microsoft.com/office/drawing/2014/main" id="{D2AA480D-DF5B-7338-E872-5301BE1DA38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94962" y="1984443"/>
            <a:ext cx="5458838" cy="4192520"/>
          </a:xfrm>
        </p:spPr>
        <p:txBody>
          <a:bodyPr>
            <a:normAutofit/>
          </a:bodyPr>
          <a:lstStyle/>
          <a:p>
            <a:pPr marL="0" indent="0">
              <a:spcBef>
                <a:spcPts val="2500"/>
              </a:spcBef>
              <a:buFont typeface="Arial" panose="020B0604020202020204" pitchFamily="34" charset="0"/>
              <a:buNone/>
            </a:pPr>
            <a:r>
              <a:rPr lang="en-AU" sz="1400" b="1" dirty="0"/>
              <a:t>Key Financial Risk Markers</a:t>
            </a:r>
          </a:p>
          <a:p>
            <a:pPr marL="0" lvl="1" indent="0">
              <a:buFont typeface="Arial" panose="020B0604020202020204" pitchFamily="34" charset="0"/>
              <a:buNone/>
            </a:pPr>
            <a:r>
              <a:rPr lang="en-AU" sz="1400" dirty="0"/>
              <a:t>Bankruptcy history and debt-to-income ratios are vital indicators for forecasting financial failure and risk evaluation.</a:t>
            </a:r>
          </a:p>
          <a:p>
            <a:pPr marL="0" indent="0">
              <a:spcBef>
                <a:spcPts val="2500"/>
              </a:spcBef>
              <a:buFont typeface="Arial" panose="020B0604020202020204" pitchFamily="34" charset="0"/>
              <a:buNone/>
            </a:pPr>
            <a:r>
              <a:rPr lang="en-AU" sz="1400" b="1" dirty="0"/>
              <a:t>GLM Model Predictive Power</a:t>
            </a:r>
          </a:p>
          <a:p>
            <a:pPr marL="0" lvl="1" indent="0">
              <a:buFont typeface="Arial" panose="020B0604020202020204" pitchFamily="34" charset="0"/>
              <a:buNone/>
            </a:pPr>
            <a:r>
              <a:rPr lang="en-AU" sz="1400" dirty="0"/>
              <a:t>The GLM model improved data analysis, achieving 87.9% accuracy and a 71% F1 score in financial prediction.</a:t>
            </a:r>
          </a:p>
          <a:p>
            <a:pPr marL="0" indent="0">
              <a:spcBef>
                <a:spcPts val="2500"/>
              </a:spcBef>
              <a:buFont typeface="Arial" panose="020B0604020202020204" pitchFamily="34" charset="0"/>
              <a:buNone/>
            </a:pPr>
            <a:r>
              <a:rPr lang="en-AU" sz="1400" b="1" dirty="0"/>
              <a:t>Data Processing and Bias Minimisation</a:t>
            </a:r>
          </a:p>
          <a:p>
            <a:pPr marL="0" lvl="1" indent="0">
              <a:buFont typeface="Arial" panose="020B0604020202020204" pitchFamily="34" charset="0"/>
              <a:buNone/>
            </a:pPr>
            <a:r>
              <a:rPr lang="en-AU" sz="1400" dirty="0"/>
              <a:t>Techniques like PCA and data transformation reduced bias, but filtered data limitations should be acknowledged for effective results.</a:t>
            </a:r>
          </a:p>
        </p:txBody>
      </p:sp>
    </p:spTree>
    <p:extLst>
      <p:ext uri="{BB962C8B-B14F-4D97-AF65-F5344CB8AC3E}">
        <p14:creationId xmlns:p14="http://schemas.microsoft.com/office/powerpoint/2010/main" val="2880974917"/>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296</TotalTime>
  <Words>787</Words>
  <Application>Microsoft Macintosh PowerPoint</Application>
  <PresentationFormat>Widescreen</PresentationFormat>
  <Paragraphs>51</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Calibri</vt:lpstr>
      <vt:lpstr>Office Theme</vt:lpstr>
      <vt:lpstr>The "Big Hitters" – What Actually Predicts a Default?</vt:lpstr>
      <vt:lpstr>The Model Engine</vt:lpstr>
      <vt:lpstr>Checking Technical Assumptions</vt:lpstr>
      <vt:lpstr>Real-World Context – Project Limitations</vt:lpstr>
      <vt:lpstr>Presentation Overview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Maniraaj Sadatcharan Meenatchi</dc:creator>
  <cp:lastModifiedBy>Maniraaj Sadatcharan Meenatchi</cp:lastModifiedBy>
  <cp:revision>2</cp:revision>
  <dcterms:created xsi:type="dcterms:W3CDTF">2026-03-25T09:07:35Z</dcterms:created>
  <dcterms:modified xsi:type="dcterms:W3CDTF">2026-04-01T09:07:50Z</dcterms:modified>
</cp:coreProperties>
</file>